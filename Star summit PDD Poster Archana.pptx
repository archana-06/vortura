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6459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FE7"/>
    <a:srgbClr val="D7F5CD"/>
    <a:srgbClr val="FCDCBF"/>
    <a:srgbClr val="BFE7FF"/>
    <a:srgbClr val="FED67F"/>
    <a:srgbClr val="5F5F5F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504" y="-77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4441" y="5387365"/>
            <a:ext cx="13990320" cy="11460480"/>
          </a:xfrm>
        </p:spPr>
        <p:txBody>
          <a:bodyPr anchor="b"/>
          <a:lstStyle>
            <a:lvl1pPr algn="ctr">
              <a:defRPr sz="108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17289780"/>
            <a:ext cx="12344400" cy="7947659"/>
          </a:xfrm>
        </p:spPr>
        <p:txBody>
          <a:bodyPr/>
          <a:lstStyle>
            <a:lvl1pPr marL="0" indent="0" algn="ctr">
              <a:buNone/>
              <a:defRPr sz="4325"/>
            </a:lvl1pPr>
            <a:lvl2pPr marL="823595" indent="0" algn="ctr">
              <a:buNone/>
              <a:defRPr sz="3600"/>
            </a:lvl2pPr>
            <a:lvl3pPr marL="1646555" indent="0" algn="ctr">
              <a:buNone/>
              <a:defRPr sz="3240"/>
            </a:lvl3pPr>
            <a:lvl4pPr marL="2470150" indent="0" algn="ctr">
              <a:buNone/>
              <a:defRPr sz="2880"/>
            </a:lvl4pPr>
            <a:lvl5pPr marL="3293110" indent="0" algn="ctr">
              <a:buNone/>
              <a:defRPr sz="2880"/>
            </a:lvl5pPr>
            <a:lvl6pPr marL="4116705" indent="0" algn="ctr">
              <a:buNone/>
              <a:defRPr sz="2880"/>
            </a:lvl6pPr>
            <a:lvl7pPr marL="4939665" indent="0" algn="ctr">
              <a:buNone/>
              <a:defRPr sz="2880"/>
            </a:lvl7pPr>
            <a:lvl8pPr marL="5763260" indent="0" algn="ctr">
              <a:buNone/>
              <a:defRPr sz="2880"/>
            </a:lvl8pPr>
            <a:lvl9pPr marL="6586220" indent="0" algn="ctr">
              <a:buNone/>
              <a:defRPr sz="28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998" y="8206752"/>
            <a:ext cx="14196060" cy="13693136"/>
          </a:xfrm>
        </p:spPr>
        <p:txBody>
          <a:bodyPr anchor="b"/>
          <a:lstStyle>
            <a:lvl1pPr>
              <a:defRPr sz="108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2998" y="22029429"/>
            <a:ext cx="14196060" cy="7200899"/>
          </a:xfrm>
        </p:spPr>
        <p:txBody>
          <a:bodyPr/>
          <a:lstStyle>
            <a:lvl1pPr marL="0" indent="0">
              <a:buNone/>
              <a:defRPr sz="4325">
                <a:solidFill>
                  <a:schemeClr val="tx1"/>
                </a:solidFill>
              </a:defRPr>
            </a:lvl1pPr>
            <a:lvl2pPr marL="823595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646555" indent="0">
              <a:buNone/>
              <a:defRPr sz="3240">
                <a:solidFill>
                  <a:schemeClr val="tx1">
                    <a:tint val="75000"/>
                  </a:schemeClr>
                </a:solidFill>
              </a:defRPr>
            </a:lvl3pPr>
            <a:lvl4pPr marL="247015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4pPr>
            <a:lvl5pPr marL="329311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5pPr>
            <a:lvl6pPr marL="4116705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6pPr>
            <a:lvl7pPr marL="4939665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7pPr>
            <a:lvl8pPr marL="576326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8pPr>
            <a:lvl9pPr marL="658622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1570" y="876302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2470" y="876302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1752608"/>
            <a:ext cx="14196060" cy="6362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3716" y="8069588"/>
            <a:ext cx="6963012" cy="3954780"/>
          </a:xfrm>
        </p:spPr>
        <p:txBody>
          <a:bodyPr anchor="b"/>
          <a:lstStyle>
            <a:lvl1pPr marL="0" indent="0">
              <a:buNone/>
              <a:defRPr sz="4325" b="1"/>
            </a:lvl1pPr>
            <a:lvl2pPr marL="823595" indent="0">
              <a:buNone/>
              <a:defRPr sz="3600" b="1"/>
            </a:lvl2pPr>
            <a:lvl3pPr marL="1646555" indent="0">
              <a:buNone/>
              <a:defRPr sz="3240" b="1"/>
            </a:lvl3pPr>
            <a:lvl4pPr marL="2470150" indent="0">
              <a:buNone/>
              <a:defRPr sz="2880" b="1"/>
            </a:lvl4pPr>
            <a:lvl5pPr marL="3293110" indent="0">
              <a:buNone/>
              <a:defRPr sz="2880" b="1"/>
            </a:lvl5pPr>
            <a:lvl6pPr marL="4116705" indent="0">
              <a:buNone/>
              <a:defRPr sz="2880" b="1"/>
            </a:lvl6pPr>
            <a:lvl7pPr marL="4939665" indent="0">
              <a:buNone/>
              <a:defRPr sz="2880" b="1"/>
            </a:lvl7pPr>
            <a:lvl8pPr marL="5763260" indent="0">
              <a:buNone/>
              <a:defRPr sz="2880" b="1"/>
            </a:lvl8pPr>
            <a:lvl9pPr marL="6586220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3716" y="12024360"/>
            <a:ext cx="6963012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32471" y="8069588"/>
            <a:ext cx="6997304" cy="3954780"/>
          </a:xfrm>
        </p:spPr>
        <p:txBody>
          <a:bodyPr anchor="b"/>
          <a:lstStyle>
            <a:lvl1pPr marL="0" indent="0">
              <a:buNone/>
              <a:defRPr sz="4325" b="1"/>
            </a:lvl1pPr>
            <a:lvl2pPr marL="823595" indent="0">
              <a:buNone/>
              <a:defRPr sz="3600" b="1"/>
            </a:lvl2pPr>
            <a:lvl3pPr marL="1646555" indent="0">
              <a:buNone/>
              <a:defRPr sz="3240" b="1"/>
            </a:lvl3pPr>
            <a:lvl4pPr marL="2470150" indent="0">
              <a:buNone/>
              <a:defRPr sz="2880" b="1"/>
            </a:lvl4pPr>
            <a:lvl5pPr marL="3293110" indent="0">
              <a:buNone/>
              <a:defRPr sz="2880" b="1"/>
            </a:lvl5pPr>
            <a:lvl6pPr marL="4116705" indent="0">
              <a:buNone/>
              <a:defRPr sz="2880" b="1"/>
            </a:lvl6pPr>
            <a:lvl7pPr marL="4939665" indent="0">
              <a:buNone/>
              <a:defRPr sz="2880" b="1"/>
            </a:lvl7pPr>
            <a:lvl8pPr marL="5763260" indent="0">
              <a:buNone/>
              <a:defRPr sz="2880" b="1"/>
            </a:lvl8pPr>
            <a:lvl9pPr marL="6586220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32471" y="12024360"/>
            <a:ext cx="6997304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304" y="4739649"/>
            <a:ext cx="8332470" cy="23393398"/>
          </a:xfrm>
        </p:spPr>
        <p:txBody>
          <a:bodyPr/>
          <a:lstStyle>
            <a:lvl1pPr>
              <a:defRPr sz="5760"/>
            </a:lvl1pPr>
            <a:lvl2pPr>
              <a:defRPr sz="5040"/>
            </a:lvl2pPr>
            <a:lvl3pPr>
              <a:defRPr sz="4325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3595" indent="0">
              <a:buNone/>
              <a:defRPr sz="2520"/>
            </a:lvl2pPr>
            <a:lvl3pPr marL="1646555" indent="0">
              <a:buNone/>
              <a:defRPr sz="2160"/>
            </a:lvl3pPr>
            <a:lvl4pPr marL="2470150" indent="0">
              <a:buNone/>
              <a:defRPr sz="1800"/>
            </a:lvl4pPr>
            <a:lvl5pPr marL="3293110" indent="0">
              <a:buNone/>
              <a:defRPr sz="1800"/>
            </a:lvl5pPr>
            <a:lvl6pPr marL="4116705" indent="0">
              <a:buNone/>
              <a:defRPr sz="1800"/>
            </a:lvl6pPr>
            <a:lvl7pPr marL="4939665" indent="0">
              <a:buNone/>
              <a:defRPr sz="1800"/>
            </a:lvl7pPr>
            <a:lvl8pPr marL="5763260" indent="0">
              <a:buNone/>
              <a:defRPr sz="1800"/>
            </a:lvl8pPr>
            <a:lvl9pPr marL="658622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97304" y="4739649"/>
            <a:ext cx="8332470" cy="23393398"/>
          </a:xfrm>
        </p:spPr>
        <p:txBody>
          <a:bodyPr anchor="t"/>
          <a:lstStyle>
            <a:lvl1pPr marL="0" indent="0">
              <a:buNone/>
              <a:defRPr sz="5760"/>
            </a:lvl1pPr>
            <a:lvl2pPr marL="823595" indent="0">
              <a:buNone/>
              <a:defRPr sz="5040"/>
            </a:lvl2pPr>
            <a:lvl3pPr marL="1646555" indent="0">
              <a:buNone/>
              <a:defRPr sz="4325"/>
            </a:lvl3pPr>
            <a:lvl4pPr marL="2470150" indent="0">
              <a:buNone/>
              <a:defRPr sz="3600"/>
            </a:lvl4pPr>
            <a:lvl5pPr marL="3293110" indent="0">
              <a:buNone/>
              <a:defRPr sz="3600"/>
            </a:lvl5pPr>
            <a:lvl6pPr marL="4116705" indent="0">
              <a:buNone/>
              <a:defRPr sz="3600"/>
            </a:lvl6pPr>
            <a:lvl7pPr marL="4939665" indent="0">
              <a:buNone/>
              <a:defRPr sz="3600"/>
            </a:lvl7pPr>
            <a:lvl8pPr marL="5763260" indent="0">
              <a:buNone/>
              <a:defRPr sz="3600"/>
            </a:lvl8pPr>
            <a:lvl9pPr marL="6586220" indent="0">
              <a:buNone/>
              <a:defRPr sz="3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3595" indent="0">
              <a:buNone/>
              <a:defRPr sz="2520"/>
            </a:lvl2pPr>
            <a:lvl3pPr marL="1646555" indent="0">
              <a:buNone/>
              <a:defRPr sz="2160"/>
            </a:lvl3pPr>
            <a:lvl4pPr marL="2470150" indent="0">
              <a:buNone/>
              <a:defRPr sz="1800"/>
            </a:lvl4pPr>
            <a:lvl5pPr marL="3293110" indent="0">
              <a:buNone/>
              <a:defRPr sz="1800"/>
            </a:lvl5pPr>
            <a:lvl6pPr marL="4116705" indent="0">
              <a:buNone/>
              <a:defRPr sz="1800"/>
            </a:lvl6pPr>
            <a:lvl7pPr marL="4939665" indent="0">
              <a:buNone/>
              <a:defRPr sz="1800"/>
            </a:lvl7pPr>
            <a:lvl8pPr marL="5763260" indent="0">
              <a:buNone/>
              <a:defRPr sz="1800"/>
            </a:lvl8pPr>
            <a:lvl9pPr marL="658622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78616" y="1752621"/>
            <a:ext cx="3549015" cy="278968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1576" y="1752621"/>
            <a:ext cx="10441305" cy="278968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1570" y="1752608"/>
            <a:ext cx="14196060" cy="6362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8763025"/>
            <a:ext cx="14196060" cy="20886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2DA87-17A3-43A0-B86E-2FCFB6EFBC3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33070-D223-4E7B-BBE1-DD4C7F7A138D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646555" rtl="0" eaLnBrk="1" latinLnBrk="0" hangingPunct="1">
        <a:lnSpc>
          <a:spcPct val="90000"/>
        </a:lnSpc>
        <a:spcBef>
          <a:spcPct val="0"/>
        </a:spcBef>
        <a:buNone/>
        <a:defRPr sz="7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480" indent="-411480" algn="l" defTabSz="1646555" rtl="0" eaLnBrk="1" latinLnBrk="0" hangingPunct="1">
        <a:lnSpc>
          <a:spcPct val="90000"/>
        </a:lnSpc>
        <a:spcBef>
          <a:spcPts val="1800"/>
        </a:spcBef>
        <a:buFont typeface="Arial" panose="020B060402020209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1pPr>
      <a:lvl2pPr marL="1235075" indent="-411480" algn="l" defTabSz="1646555" rtl="0" eaLnBrk="1" latinLnBrk="0" hangingPunct="1">
        <a:lnSpc>
          <a:spcPct val="90000"/>
        </a:lnSpc>
        <a:spcBef>
          <a:spcPts val="900"/>
        </a:spcBef>
        <a:buFont typeface="Arial" panose="020B0604020202090204" pitchFamily="34" charset="0"/>
        <a:buChar char="•"/>
        <a:defRPr sz="4325" kern="1200">
          <a:solidFill>
            <a:schemeClr val="tx1"/>
          </a:solidFill>
          <a:latin typeface="+mn-lt"/>
          <a:ea typeface="+mn-ea"/>
          <a:cs typeface="+mn-cs"/>
        </a:defRPr>
      </a:lvl2pPr>
      <a:lvl3pPr marL="2058035" indent="-411480" algn="l" defTabSz="1646555" rtl="0" eaLnBrk="1" latinLnBrk="0" hangingPunct="1">
        <a:lnSpc>
          <a:spcPct val="90000"/>
        </a:lnSpc>
        <a:spcBef>
          <a:spcPts val="900"/>
        </a:spcBef>
        <a:buFont typeface="Arial" panose="020B060402020209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881630" indent="-411480" algn="l" defTabSz="1646555" rtl="0" eaLnBrk="1" latinLnBrk="0" hangingPunct="1">
        <a:lnSpc>
          <a:spcPct val="90000"/>
        </a:lnSpc>
        <a:spcBef>
          <a:spcPts val="900"/>
        </a:spcBef>
        <a:buFont typeface="Arial" panose="020B060402020209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4pPr>
      <a:lvl5pPr marL="3704590" indent="-411480" algn="l" defTabSz="1646555" rtl="0" eaLnBrk="1" latinLnBrk="0" hangingPunct="1">
        <a:lnSpc>
          <a:spcPct val="90000"/>
        </a:lnSpc>
        <a:spcBef>
          <a:spcPts val="900"/>
        </a:spcBef>
        <a:buFont typeface="Arial" panose="020B060402020209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5pPr>
      <a:lvl6pPr marL="4528185" indent="-411480" algn="l" defTabSz="1646555" rtl="0" eaLnBrk="1" latinLnBrk="0" hangingPunct="1">
        <a:lnSpc>
          <a:spcPct val="90000"/>
        </a:lnSpc>
        <a:spcBef>
          <a:spcPts val="900"/>
        </a:spcBef>
        <a:buFont typeface="Arial" panose="020B060402020209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6pPr>
      <a:lvl7pPr marL="5351145" indent="-411480" algn="l" defTabSz="1646555" rtl="0" eaLnBrk="1" latinLnBrk="0" hangingPunct="1">
        <a:lnSpc>
          <a:spcPct val="90000"/>
        </a:lnSpc>
        <a:spcBef>
          <a:spcPts val="900"/>
        </a:spcBef>
        <a:buFont typeface="Arial" panose="020B060402020209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7pPr>
      <a:lvl8pPr marL="6174740" indent="-411480" algn="l" defTabSz="1646555" rtl="0" eaLnBrk="1" latinLnBrk="0" hangingPunct="1">
        <a:lnSpc>
          <a:spcPct val="90000"/>
        </a:lnSpc>
        <a:spcBef>
          <a:spcPts val="900"/>
        </a:spcBef>
        <a:buFont typeface="Arial" panose="020B060402020209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8pPr>
      <a:lvl9pPr marL="6997700" indent="-411480" algn="l" defTabSz="1646555" rtl="0" eaLnBrk="1" latinLnBrk="0" hangingPunct="1">
        <a:lnSpc>
          <a:spcPct val="90000"/>
        </a:lnSpc>
        <a:spcBef>
          <a:spcPts val="900"/>
        </a:spcBef>
        <a:buFont typeface="Arial" panose="020B060402020209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46555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1pPr>
      <a:lvl2pPr marL="823595" algn="l" defTabSz="1646555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2pPr>
      <a:lvl3pPr marL="1646555" algn="l" defTabSz="1646555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3pPr>
      <a:lvl4pPr marL="2470150" algn="l" defTabSz="1646555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4pPr>
      <a:lvl5pPr marL="3293110" algn="l" defTabSz="1646555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5pPr>
      <a:lvl6pPr marL="4116705" algn="l" defTabSz="1646555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6pPr>
      <a:lvl7pPr marL="4939665" algn="l" defTabSz="1646555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7pPr>
      <a:lvl8pPr marL="5763260" algn="l" defTabSz="1646555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8pPr>
      <a:lvl9pPr marL="6586220" algn="l" defTabSz="1646555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-1" y="1"/>
            <a:ext cx="16459202" cy="269206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4" name="Rectangle 3"/>
          <p:cNvSpPr/>
          <p:nvPr/>
        </p:nvSpPr>
        <p:spPr>
          <a:xfrm>
            <a:off x="-5" y="4016522"/>
            <a:ext cx="16459203" cy="6104232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2" y="10118010"/>
            <a:ext cx="16459203" cy="5824474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-2" y="15957717"/>
            <a:ext cx="16459203" cy="6237015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  <p:sp>
        <p:nvSpPr>
          <p:cNvPr id="7" name="Rectangle 6"/>
          <p:cNvSpPr/>
          <p:nvPr/>
        </p:nvSpPr>
        <p:spPr>
          <a:xfrm>
            <a:off x="0" y="22179915"/>
            <a:ext cx="16459200" cy="5455920"/>
          </a:xfrm>
          <a:prstGeom prst="rect">
            <a:avLst/>
          </a:prstGeom>
          <a:solidFill>
            <a:srgbClr val="FC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8" name="Rectangle 7"/>
          <p:cNvSpPr/>
          <p:nvPr/>
        </p:nvSpPr>
        <p:spPr>
          <a:xfrm>
            <a:off x="-2" y="27557964"/>
            <a:ext cx="16459203" cy="5360434"/>
          </a:xfrm>
          <a:prstGeom prst="rect">
            <a:avLst/>
          </a:prstGeom>
          <a:solidFill>
            <a:srgbClr val="D7F5CD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9" name="Rectangle 18"/>
          <p:cNvSpPr/>
          <p:nvPr/>
        </p:nvSpPr>
        <p:spPr>
          <a:xfrm>
            <a:off x="187036" y="4044802"/>
            <a:ext cx="3261014" cy="4741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INTRODUCTION</a:t>
            </a:r>
            <a:endParaRPr lang="en-IN" sz="28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-2" y="2698062"/>
            <a:ext cx="16459203" cy="1325224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2" name="Rectangle 21"/>
          <p:cNvSpPr/>
          <p:nvPr/>
        </p:nvSpPr>
        <p:spPr>
          <a:xfrm>
            <a:off x="187042" y="16251378"/>
            <a:ext cx="1879890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RESULTS</a:t>
            </a:r>
            <a:endParaRPr lang="en-IN" sz="28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87042" y="22194426"/>
            <a:ext cx="59089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DISCUSSION AND CONCLUSION</a:t>
            </a:r>
            <a:endParaRPr lang="en-IN" sz="28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89582" y="27635612"/>
            <a:ext cx="3022889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BIBLIOGRAPHY</a:t>
            </a:r>
            <a:endParaRPr lang="en-IN" sz="28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4075" y="2693072"/>
            <a:ext cx="1550504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1200"/>
              </a:spcBef>
              <a:buNone/>
            </a:pPr>
            <a:r>
              <a:rPr lang="en-US" altLang="en-US" sz="3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BLOCKCHAIN-BACKED MULTI-MODAL BIOMETRIC VOTING SYSTEM WITH AI FRAUD DETECTION</a:t>
            </a:r>
            <a:endParaRPr lang="en-US" altLang="en-US" sz="3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87047" y="10269290"/>
            <a:ext cx="51850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MATERIALS AND METHODS</a:t>
            </a:r>
            <a:endParaRPr lang="en-IN" sz="28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38606" y="17425771"/>
            <a:ext cx="9249450" cy="400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89865" y="22558375"/>
            <a:ext cx="1555369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en-US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Comparative analysis showed that both the Android and Web applications of Vortura effectively support secure digital voting using blockchain, biometrics, and AI-based fraud detection.</a:t>
            </a:r>
            <a:endParaRPr lang="en-US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en-US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Android application demonstrated better speed, response time, usability, and lower error rates due to optimized mobile biometric integration. The Web application provided enhanced administrative control, real-time monitoring, and transparent blockchain analytics.</a:t>
            </a:r>
            <a:endParaRPr lang="en-US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en-US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SPSS mean analysis indicated higher user satisfaction and efficiency for the Android application, while the Web platform showed better scalability and accessibility.</a:t>
            </a:r>
            <a:endParaRPr lang="en-US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en-US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Overall, Vortura improved election security, transparency, and reliability through blockchain storage, biometric authentication, and AI-powered fraud detection.</a:t>
            </a:r>
            <a:endParaRPr lang="en-US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36632" y="28189813"/>
            <a:ext cx="15553277" cy="522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 rtl="0">
              <a:spcBef>
                <a:spcPts val="1100"/>
              </a:spcBef>
              <a:buFont typeface="Arial" panose="020B0604020202090204" pitchFamily="34" charset="0"/>
              <a:buChar char="•"/>
            </a:pPr>
            <a:r>
              <a:rPr lang="en-US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H. O. Ohize, “Blockchain for Securing Electronic Voting Systems: A Survey of Security Requirements and Existing Systems,” Cluster Computing, vol. 28, pp. 1–28, 2025.</a:t>
            </a:r>
            <a:endParaRPr lang="en-US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 algn="just" rtl="0">
              <a:spcBef>
                <a:spcPts val="1100"/>
              </a:spcBef>
              <a:buFont typeface="Arial" panose="020B0604020202090204" pitchFamily="34" charset="0"/>
              <a:buChar char="•"/>
            </a:pPr>
            <a:r>
              <a:rPr lang="en-US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M. Jain, “E-Voting System Using Machine Learning, Blockchain, and Fraud Detection,” International Journal on Science and Technology, vol. 16, no. 2, pp. 1–9, 2025.</a:t>
            </a:r>
            <a:endParaRPr lang="en-US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 algn="just" rtl="0">
              <a:spcBef>
                <a:spcPts val="1100"/>
              </a:spcBef>
              <a:buFont typeface="Arial" panose="020B0604020202090204" pitchFamily="34" charset="0"/>
              <a:buChar char="•"/>
            </a:pPr>
            <a:r>
              <a:rPr lang="en-US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B. Sujatha, Y. Ganesh, N. Leelavathy, R. Tamilkodi, S. Venkatesh, B. Sandhya, and T. S. Kowshik, “Blockchain-Powered E-Voting: A Novel Approach to Secure Voter Authentication, Online Voting and Election Automation,” Indian Journal of Science and Technology, vol. 17, no. 47, pp. 4948–4958, 2024.</a:t>
            </a:r>
            <a:endParaRPr lang="en-US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 algn="just" rtl="0">
              <a:spcBef>
                <a:spcPts val="1100"/>
              </a:spcBef>
              <a:buFont typeface="Arial" panose="020B0604020202090204" pitchFamily="34" charset="0"/>
              <a:buChar char="•"/>
            </a:pPr>
            <a:r>
              <a:rPr lang="en-US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M. Sharp, “Blockchain-Based E-Voting Mechanisms: A Survey and a Novel System,” Blockchains, vol. 4, no. 4, pp. 21–39, 2024, blockchains4040021.</a:t>
            </a:r>
            <a:endParaRPr lang="en-US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 algn="just" rtl="0">
              <a:spcBef>
                <a:spcPts val="1100"/>
              </a:spcBef>
              <a:buFont typeface="Arial" panose="020B0604020202090204" pitchFamily="34" charset="0"/>
              <a:buChar char="•"/>
            </a:pPr>
            <a:r>
              <a:rPr lang="en-US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S. S. Taher, “Advanced Fraud Detection in Blockchain Transactions,” Engineering, Technology &amp; Applied Science Research, vol. 14, no. 2, pp. 14567–14575, 2024.</a:t>
            </a:r>
            <a:endParaRPr lang="en-US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77800" indent="-457200" algn="just" rtl="0">
              <a:spcBef>
                <a:spcPts val="1100"/>
              </a:spcBef>
              <a:buFont typeface="Arial" panose="020B0604020202090204" pitchFamily="34" charset="0"/>
              <a:buChar char="•"/>
            </a:pPr>
            <a:endParaRPr lang="en-US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3443" y="290580"/>
            <a:ext cx="15952717" cy="183247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643463" y="1470940"/>
            <a:ext cx="642088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  <a:latin typeface="Times New Roman" panose="02020503050405090304" pitchFamily="18" charset="0"/>
                <a:ea typeface="Tahoma" panose="020B0604030504040204" pitchFamily="34" charset="0"/>
                <a:cs typeface="Times New Roman" panose="02020503050405090304" pitchFamily="18" charset="0"/>
              </a:rPr>
              <a:t>Student Name: Archana M </a:t>
            </a:r>
            <a:endParaRPr lang="en-US" b="1" dirty="0">
              <a:solidFill>
                <a:schemeClr val="bg1"/>
              </a:solidFill>
              <a:latin typeface="Times New Roman" panose="02020503050405090304" pitchFamily="18" charset="0"/>
              <a:ea typeface="Tahoma" panose="020B0604030504040204" pitchFamily="34" charset="0"/>
              <a:cs typeface="Times New Roman" panose="02020503050405090304" pitchFamily="18" charset="0"/>
            </a:endParaRPr>
          </a:p>
          <a:p>
            <a:pPr algn="r"/>
            <a:r>
              <a:rPr lang="en-IN" b="1" dirty="0">
                <a:solidFill>
                  <a:schemeClr val="bg1"/>
                </a:solidFill>
                <a:latin typeface="Times New Roman" panose="02020503050405090304" pitchFamily="18" charset="0"/>
                <a:ea typeface="Tahoma" panose="020B0604030504040204" pitchFamily="34" charset="0"/>
                <a:cs typeface="Times New Roman" panose="02020503050405090304" pitchFamily="18" charset="0"/>
              </a:rPr>
              <a:t>Project Guide: </a:t>
            </a:r>
            <a:r>
              <a:rPr lang="en-IN" b="1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Tahoma" panose="020B0604030504040204" pitchFamily="34" charset="0"/>
                <a:cs typeface="Times New Roman" panose="02020503050405090304" pitchFamily="18" charset="0"/>
              </a:rPr>
              <a:t>Dr. </a:t>
            </a:r>
            <a:r>
              <a:rPr lang="en-US" altLang="en-IN" b="1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Tahoma" panose="020B0604030504040204" pitchFamily="34" charset="0"/>
                <a:cs typeface="Times New Roman" panose="02020503050405090304" pitchFamily="18" charset="0"/>
              </a:rPr>
              <a:t>G.V SriRamakrishnan</a:t>
            </a:r>
            <a:br>
              <a:rPr lang="en-IN" b="1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Tahoma" panose="020B0604030504040204" pitchFamily="34" charset="0"/>
                <a:cs typeface="Times New Roman" panose="02020503050405090304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anose="02020503050405090304" pitchFamily="18" charset="0"/>
                <a:ea typeface="Tahoma" panose="020B0604030504040204" pitchFamily="34" charset="0"/>
                <a:cs typeface="Times New Roman" panose="02020503050405090304" pitchFamily="18" charset="0"/>
              </a:rPr>
              <a:t>Reg. No: </a:t>
            </a:r>
            <a:r>
              <a:rPr lang="en-IN" b="1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Tahoma" panose="020B0604030504040204" pitchFamily="34" charset="0"/>
                <a:cs typeface="Times New Roman" panose="02020503050405090304" pitchFamily="18" charset="0"/>
              </a:rPr>
              <a:t>19</a:t>
            </a:r>
            <a:r>
              <a:rPr lang="en-US" altLang="en-IN" b="1" i="0" dirty="0"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Tahoma" panose="020B0604030504040204" pitchFamily="34" charset="0"/>
                <a:cs typeface="Times New Roman" panose="02020503050405090304" pitchFamily="18" charset="0"/>
              </a:rPr>
              <a:t>2324192</a:t>
            </a:r>
            <a:endParaRPr lang="en-US" altLang="en-IN" b="1" i="0" dirty="0">
              <a:solidFill>
                <a:schemeClr val="bg1"/>
              </a:solidFill>
              <a:effectLst/>
              <a:latin typeface="Times New Roman" panose="02020503050405090304" pitchFamily="18" charset="0"/>
              <a:ea typeface="Tahoma" panose="020B0604030504040204" pitchFamily="34" charset="0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86690" y="4453890"/>
            <a:ext cx="10870565" cy="4857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2400">
                <a:latin typeface="Times New Roman" panose="02020503050405090304" pitchFamily="18" charset="0"/>
                <a:cs typeface="Times New Roman" panose="02020503050405090304" pitchFamily="18" charset="0"/>
              </a:rPr>
              <a:t>Vortura is a secure blockchain-based electronic voting platform designed to improve transparency, security, and reliability in digital elections.</a:t>
            </a:r>
            <a:endParaRPr lang="en-US" altLang="en-US" sz="24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2400">
                <a:latin typeface="Times New Roman" panose="02020503050405090304" pitchFamily="18" charset="0"/>
                <a:cs typeface="Times New Roman" panose="02020503050405090304" pitchFamily="18" charset="0"/>
              </a:rPr>
              <a:t>The system uses multi-modal biometric authentication, including facial recognition and fingerprint verification, to ensure secure voter identity validation.</a:t>
            </a:r>
            <a:endParaRPr lang="en-US" altLang="en-US" sz="24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2400">
                <a:latin typeface="Times New Roman" panose="02020503050405090304" pitchFamily="18" charset="0"/>
                <a:cs typeface="Times New Roman" panose="02020503050405090304" pitchFamily="18" charset="0"/>
              </a:rPr>
              <a:t>Blockchain technology stores encrypted voting records in immutable blocks, ensuring tamper-proof and transparent vote management.</a:t>
            </a:r>
            <a:endParaRPr lang="en-US" altLang="en-US" sz="24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2400">
                <a:latin typeface="Times New Roman" panose="02020503050405090304" pitchFamily="18" charset="0"/>
                <a:cs typeface="Times New Roman" panose="02020503050405090304" pitchFamily="18" charset="0"/>
              </a:rPr>
              <a:t>An AI-based fraud detection module identifies suspicious activities such as proxy voting, multiple login attempts, and biometric spoofing attacks.</a:t>
            </a:r>
            <a:endParaRPr lang="en-US" altLang="en-US" sz="24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2400">
                <a:latin typeface="Times New Roman" panose="02020503050405090304" pitchFamily="18" charset="0"/>
                <a:cs typeface="Times New Roman" panose="02020503050405090304" pitchFamily="18" charset="0"/>
              </a:rPr>
              <a:t>The platform provides multilingual voice-guided accessibility features for rural, elderly, and differently-abled users.</a:t>
            </a:r>
            <a:endParaRPr lang="en-US" altLang="en-US" sz="24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514350" y="11278870"/>
            <a:ext cx="1403350" cy="3082925"/>
          </a:xfrm>
          <a:prstGeom prst="rect">
            <a:avLst/>
          </a:prstGeom>
          <a:solidFill>
            <a:srgbClr val="7030A0">
              <a:alpha val="59000"/>
            </a:srgbClr>
          </a:solidFill>
          <a:ln w="34925" cap="flat" cmpd="sng">
            <a:solidFill>
              <a:srgbClr val="7030A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rgbClr val="00206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USER REGISTRATION</a:t>
            </a:r>
            <a:endParaRPr lang="en-US" sz="1600" b="1">
              <a:solidFill>
                <a:srgbClr val="00206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endParaRPr lang="en-US" sz="16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en-US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Aadhaar &amp; Personal Information Submission</a:t>
            </a:r>
            <a:endParaRPr lang="en-US" alt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511030" y="10940415"/>
            <a:ext cx="1928495" cy="2691130"/>
          </a:xfrm>
          <a:prstGeom prst="roundRect">
            <a:avLst/>
          </a:prstGeom>
          <a:solidFill>
            <a:srgbClr val="92D050">
              <a:alpha val="80000"/>
            </a:srgbClr>
          </a:solidFill>
          <a:ln w="3492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SECURE VOTING DASHBOARD</a:t>
            </a:r>
            <a:endParaRPr lang="en-US" sz="1600" b="1">
              <a:solidFill>
                <a:schemeClr val="accent6">
                  <a:lumMod val="50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endParaRPr lang="en-US" sz="16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Display of contestants</a:t>
            </a:r>
            <a:endParaRPr 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Vote Selection</a:t>
            </a:r>
            <a:endParaRPr 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Review and Confirmation of  Vote</a:t>
            </a:r>
            <a:endParaRPr 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728595" y="11415395"/>
            <a:ext cx="1402715" cy="2921635"/>
          </a:xfrm>
          <a:prstGeom prst="roundRect">
            <a:avLst/>
          </a:prstGeom>
          <a:solidFill>
            <a:srgbClr val="FFC000">
              <a:alpha val="50000"/>
            </a:srgbClr>
          </a:solidFill>
          <a:ln w="349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accent2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OTP AUTHENTICATION </a:t>
            </a:r>
            <a:endParaRPr lang="en-US" sz="1600" b="1">
              <a:solidFill>
                <a:schemeClr val="accent2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ctr"/>
            <a:endParaRPr lang="en-US" sz="16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en-US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Mobile Number Verification</a:t>
            </a:r>
            <a:endParaRPr lang="en-US" alt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21" name="Round Diagonal Corner Rectangle 20"/>
          <p:cNvSpPr/>
          <p:nvPr/>
        </p:nvSpPr>
        <p:spPr>
          <a:xfrm>
            <a:off x="7340600" y="10463530"/>
            <a:ext cx="1497330" cy="3028950"/>
          </a:xfrm>
          <a:prstGeom prst="round2DiagRect">
            <a:avLst/>
          </a:prstGeom>
          <a:solidFill>
            <a:srgbClr val="0070C0">
              <a:alpha val="34000"/>
            </a:srgbClr>
          </a:solidFill>
          <a:ln w="34925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600" b="1">
                <a:solidFill>
                  <a:srgbClr val="00206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AI FRAUD DETECTION</a:t>
            </a:r>
            <a:endParaRPr lang="en-US" altLang="en-US" sz="1600" b="1">
              <a:solidFill>
                <a:srgbClr val="00206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endParaRPr lang="en-US" altLang="en-US" sz="16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/>
            <a:r>
              <a:rPr lang="en-US" altLang="en-US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• Device Validation</a:t>
            </a:r>
            <a:endParaRPr lang="en-US" alt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/>
            <a:r>
              <a:rPr lang="en-US" altLang="en-US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• Geo-location Verification</a:t>
            </a:r>
            <a:endParaRPr lang="en-US" alt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/>
            <a:r>
              <a:rPr lang="en-US" altLang="en-US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• Spoof Detection</a:t>
            </a:r>
            <a:endParaRPr lang="en-US" alt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endParaRPr lang="en-US" alt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5" name="Snip and Round Single Corner Rectangle 24"/>
          <p:cNvSpPr/>
          <p:nvPr/>
        </p:nvSpPr>
        <p:spPr>
          <a:xfrm>
            <a:off x="4866005" y="11341735"/>
            <a:ext cx="1761490" cy="3136265"/>
          </a:xfrm>
          <a:prstGeom prst="snipRoundRect">
            <a:avLst/>
          </a:prstGeom>
          <a:solidFill>
            <a:srgbClr val="00B050">
              <a:alpha val="17000"/>
            </a:srgbClr>
          </a:solidFill>
          <a:ln w="34925"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600" b="1">
                <a:solidFill>
                  <a:srgbClr val="00B0F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MULTI- MODEL BIOMETRIC VERIFICATION</a:t>
            </a:r>
            <a:endParaRPr lang="en-US" altLang="en-US" sz="1600" b="1">
              <a:solidFill>
                <a:srgbClr val="00B0F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endParaRPr lang="en-US" altLang="en-US" sz="16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/>
            <a:r>
              <a:rPr lang="en-US" altLang="en-US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• Face Recognition</a:t>
            </a:r>
            <a:endParaRPr lang="en-US" alt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/>
            <a:r>
              <a:rPr lang="en-US" altLang="en-US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• Fingerprint Authentication</a:t>
            </a:r>
            <a:endParaRPr lang="en-US" alt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2091035" y="11159490"/>
            <a:ext cx="3898265" cy="2244090"/>
          </a:xfrm>
          <a:prstGeom prst="rect">
            <a:avLst/>
          </a:prstGeom>
          <a:solidFill>
            <a:schemeClr val="tx1">
              <a:lumMod val="75000"/>
              <a:lumOff val="25000"/>
              <a:alpha val="46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VOTE ENCRYPTION &amp; BLOCKCHAIN STORAGE</a:t>
            </a:r>
            <a:endParaRPr lang="en-US" sz="16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endParaRPr 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Vote encrption using cryptography</a:t>
            </a:r>
            <a:endParaRPr 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Hash Generation</a:t>
            </a:r>
            <a:endParaRPr 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Vote Stored as a block in blockchain</a:t>
            </a:r>
            <a:endParaRPr 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Immutable and Tamper- proof record</a:t>
            </a:r>
            <a:endParaRPr 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9" name="Snip Single Corner Rectangle 28"/>
          <p:cNvSpPr/>
          <p:nvPr/>
        </p:nvSpPr>
        <p:spPr>
          <a:xfrm>
            <a:off x="12583795" y="14113510"/>
            <a:ext cx="3501390" cy="1621790"/>
          </a:xfrm>
          <a:prstGeom prst="snip1Rect">
            <a:avLst/>
          </a:prstGeom>
          <a:solidFill>
            <a:srgbClr val="C00000">
              <a:alpha val="19000"/>
            </a:srgbClr>
          </a:solidFill>
          <a:ln w="34925"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BLOCK CHAIN VERIFICATION</a:t>
            </a:r>
            <a:endParaRPr lang="en-US" sz="1600" b="1">
              <a:solidFill>
                <a:srgbClr val="C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endParaRPr lang="en-US" sz="16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Block Chain consenses verification</a:t>
            </a:r>
            <a:endParaRPr 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Successful vote confirmation</a:t>
            </a:r>
            <a:endParaRPr 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Generation of anonymous digital receipt</a:t>
            </a:r>
            <a:endParaRPr 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0" name="Round Single Corner Rectangle 29"/>
          <p:cNvSpPr/>
          <p:nvPr/>
        </p:nvSpPr>
        <p:spPr>
          <a:xfrm>
            <a:off x="8330565" y="14084935"/>
            <a:ext cx="3436620" cy="1721485"/>
          </a:xfrm>
          <a:prstGeom prst="round1Rect">
            <a:avLst/>
          </a:prstGeom>
          <a:solidFill>
            <a:schemeClr val="accent4">
              <a:lumMod val="60000"/>
              <a:lumOff val="40000"/>
              <a:alpha val="53000"/>
            </a:schemeClr>
          </a:solidFill>
          <a:ln w="3492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>
                <a:solidFill>
                  <a:schemeClr val="accent4">
                    <a:lumMod val="50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ADMIN MONITORING &amp; ANALYTICS</a:t>
            </a:r>
            <a:endParaRPr lang="en-US" sz="1600" b="1">
              <a:solidFill>
                <a:schemeClr val="accent4">
                  <a:lumMod val="50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Real-time election monitoring</a:t>
            </a:r>
            <a:endParaRPr 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AI- based fraud alerts</a:t>
            </a:r>
            <a:endParaRPr 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Dashboard nd analytics reports</a:t>
            </a:r>
            <a:endParaRPr 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Transparent and auditable process</a:t>
            </a:r>
            <a:endParaRPr 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endParaRPr lang="en-US" sz="160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1" name="Right Arrow 30"/>
          <p:cNvSpPr/>
          <p:nvPr/>
        </p:nvSpPr>
        <p:spPr>
          <a:xfrm>
            <a:off x="1929765" y="12528550"/>
            <a:ext cx="773430" cy="68707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>
            <a:off x="4156710" y="12657455"/>
            <a:ext cx="730250" cy="68707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" name="Right Arrow 32"/>
          <p:cNvSpPr/>
          <p:nvPr/>
        </p:nvSpPr>
        <p:spPr>
          <a:xfrm>
            <a:off x="6655435" y="12334875"/>
            <a:ext cx="687070" cy="60198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" name="Right Arrow 34"/>
          <p:cNvSpPr/>
          <p:nvPr/>
        </p:nvSpPr>
        <p:spPr>
          <a:xfrm>
            <a:off x="8867775" y="12120245"/>
            <a:ext cx="666115" cy="60134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Right Arrow 39"/>
          <p:cNvSpPr/>
          <p:nvPr/>
        </p:nvSpPr>
        <p:spPr>
          <a:xfrm>
            <a:off x="11466830" y="12205970"/>
            <a:ext cx="622935" cy="53721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13658215" y="13409295"/>
            <a:ext cx="579755" cy="66548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4" name="Left Arrow 43"/>
          <p:cNvSpPr/>
          <p:nvPr/>
        </p:nvSpPr>
        <p:spPr>
          <a:xfrm>
            <a:off x="11767820" y="14752955"/>
            <a:ext cx="751840" cy="580390"/>
          </a:xfrm>
          <a:prstGeom prst="leftArrow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5" name="Text Box 54"/>
          <p:cNvSpPr txBox="1"/>
          <p:nvPr/>
        </p:nvSpPr>
        <p:spPr>
          <a:xfrm>
            <a:off x="568325" y="19363055"/>
            <a:ext cx="4229735" cy="664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ctr"/>
            <a:r>
              <a:rPr lang="en-US" b="1">
                <a:latin typeface="Times New Roman" panose="02020503050405090304" pitchFamily="18" charset="0"/>
                <a:cs typeface="Times New Roman" panose="02020503050405090304" pitchFamily="18" charset="0"/>
              </a:rPr>
              <a:t>Fig . 3 Accuracy comparison graph between by Group</a:t>
            </a:r>
            <a:endParaRPr lang="en-US" b="1">
              <a:solidFill>
                <a:schemeClr val="accent6">
                  <a:lumMod val="40000"/>
                  <a:lumOff val="60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345" y="4885055"/>
            <a:ext cx="4672965" cy="4011295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55" y="16805275"/>
            <a:ext cx="4307205" cy="2557780"/>
          </a:xfrm>
          <a:prstGeom prst="rect">
            <a:avLst/>
          </a:prstGeom>
        </p:spPr>
      </p:pic>
      <p:pic>
        <p:nvPicPr>
          <p:cNvPr id="41" name="Picture 1" descr="Screenshot 2026-05-10 at 10.14.49 AM"/>
          <p:cNvPicPr>
            <a:picLocks noChangeAspect="1"/>
          </p:cNvPicPr>
          <p:nvPr/>
        </p:nvPicPr>
        <p:blipFill>
          <a:blip r:embed="rId4"/>
          <a:srcRect t="17987"/>
          <a:stretch>
            <a:fillRect/>
          </a:stretch>
        </p:blipFill>
        <p:spPr>
          <a:xfrm>
            <a:off x="768985" y="20027900"/>
            <a:ext cx="4029075" cy="1831975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rcRect t="18639"/>
          <a:stretch>
            <a:fillRect/>
          </a:stretch>
        </p:blipFill>
        <p:spPr>
          <a:xfrm>
            <a:off x="5260975" y="16459200"/>
            <a:ext cx="4715510" cy="2243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6"/>
          <a:srcRect t="19232"/>
          <a:stretch>
            <a:fillRect/>
          </a:stretch>
        </p:blipFill>
        <p:spPr>
          <a:xfrm>
            <a:off x="5372100" y="19363055"/>
            <a:ext cx="4604385" cy="241871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Text Box 47"/>
          <p:cNvSpPr txBox="1"/>
          <p:nvPr/>
        </p:nvSpPr>
        <p:spPr>
          <a:xfrm>
            <a:off x="1499235" y="21826220"/>
            <a:ext cx="229044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p>
            <a:pPr algn="l"/>
            <a:r>
              <a:rPr lang="en-US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Fig. 4 </a:t>
            </a:r>
            <a:r>
              <a:rPr lang="en-US" altLang="en-US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Landing Page</a:t>
            </a:r>
            <a:endParaRPr lang="en-US" altLang="en-US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1" name="Text Box 50"/>
          <p:cNvSpPr txBox="1"/>
          <p:nvPr/>
        </p:nvSpPr>
        <p:spPr>
          <a:xfrm>
            <a:off x="6227445" y="21826220"/>
            <a:ext cx="359854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l"/>
            <a:r>
              <a:rPr lang="en-US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Fig. 7 </a:t>
            </a:r>
            <a:r>
              <a:rPr lang="en-US" altLang="en-US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Admin Dashboard</a:t>
            </a:r>
            <a:endParaRPr lang="en-US" altLang="en-US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2" name="Text Box 51"/>
          <p:cNvSpPr txBox="1"/>
          <p:nvPr/>
        </p:nvSpPr>
        <p:spPr>
          <a:xfrm>
            <a:off x="11238230" y="17180560"/>
            <a:ext cx="394398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p>
            <a:pPr algn="ctr"/>
            <a:r>
              <a:rPr lang="en-US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Table. 1 </a:t>
            </a:r>
            <a:r>
              <a:rPr lang="en-US" altLang="en-US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Independent T-test Group Statistics</a:t>
            </a:r>
            <a:endParaRPr lang="en-US" altLang="en-US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3" name="Text Box 52"/>
          <p:cNvSpPr txBox="1"/>
          <p:nvPr/>
        </p:nvSpPr>
        <p:spPr>
          <a:xfrm>
            <a:off x="5476875" y="18854420"/>
            <a:ext cx="4349115" cy="337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p>
            <a:pPr algn="ctr"/>
            <a:r>
              <a:rPr lang="en-US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Fig. 5 </a:t>
            </a:r>
            <a:r>
              <a:rPr lang="en-US" altLang="en-US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Blockchain Chain Visualization</a:t>
            </a:r>
            <a:endParaRPr lang="en-US" altLang="en-US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568325" y="14766290"/>
            <a:ext cx="72809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400" b="1">
                <a:latin typeface="Times New Roman" panose="02020503050405090304" pitchFamily="18" charset="0"/>
                <a:cs typeface="Times New Roman" panose="02020503050405090304" pitchFamily="18" charset="0"/>
              </a:rPr>
              <a:t>Fig . 2 Operational Flow of the Blockchain-Based Voting System</a:t>
            </a:r>
            <a:endParaRPr lang="en-US" altLang="en-US" sz="24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12089765" y="8912225"/>
            <a:ext cx="4349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Fig. 1 Digital Voting System </a:t>
            </a:r>
            <a:endParaRPr 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27" name="Table 26"/>
          <p:cNvGraphicFramePr/>
          <p:nvPr/>
        </p:nvGraphicFramePr>
        <p:xfrm>
          <a:off x="10403205" y="18244820"/>
          <a:ext cx="5586095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2530"/>
                <a:gridCol w="1032510"/>
                <a:gridCol w="621665"/>
                <a:gridCol w="889635"/>
                <a:gridCol w="889635"/>
                <a:gridCol w="960120"/>
              </a:tblGrid>
              <a:tr h="835025">
                <a:tc>
                  <a:txBody>
                    <a:bodyPr/>
                    <a:p>
                      <a:pPr>
                        <a:buNone/>
                      </a:pPr>
                      <a:endParaRPr lang="en-US" sz="18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GROUP</a:t>
                      </a:r>
                      <a:endParaRPr lang="en-US" sz="18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N</a:t>
                      </a:r>
                      <a:endParaRPr lang="en-US" sz="18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Mean</a:t>
                      </a:r>
                      <a:endParaRPr lang="en-US" sz="18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Std. deviation</a:t>
                      </a:r>
                      <a:endParaRPr lang="en-US" sz="18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Std. Error Mean</a:t>
                      </a:r>
                      <a:endParaRPr lang="en-US" sz="18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Accuracy</a:t>
                      </a:r>
                      <a:endParaRPr lang="en-US" sz="18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Web App</a:t>
                      </a:r>
                      <a:endParaRPr lang="en-US" sz="18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50</a:t>
                      </a:r>
                      <a:endParaRPr lang="en-US" sz="18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83.9231</a:t>
                      </a:r>
                      <a:endParaRPr lang="en-US" sz="18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4.46209 </a:t>
                      </a:r>
                      <a:endParaRPr lang="en-US" altLang="en-US" sz="18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1.23756</a:t>
                      </a:r>
                      <a:endParaRPr lang="en-US" altLang="en-US" sz="18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endParaRPr lang="en-US" sz="18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Android App</a:t>
                      </a:r>
                      <a:endParaRPr lang="en-US" sz="18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50</a:t>
                      </a:r>
                      <a:endParaRPr lang="en-US" sz="18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91.0769</a:t>
                      </a:r>
                      <a:endParaRPr lang="en-US" sz="18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.95407 </a:t>
                      </a:r>
                      <a:endParaRPr lang="en-US" altLang="en-US" sz="18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.26461</a:t>
                      </a:r>
                      <a:endParaRPr lang="en-US" altLang="en-US" sz="18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3782</Words>
  <Application>WPS Writer</Application>
  <PresentationFormat>Custom</PresentationFormat>
  <Paragraphs>125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SimSun</vt:lpstr>
      <vt:lpstr>Wingdings</vt:lpstr>
      <vt:lpstr>Times New Roman</vt:lpstr>
      <vt:lpstr>Tahoma</vt:lpstr>
      <vt:lpstr>Calibri</vt:lpstr>
      <vt:lpstr>Helvetica Neue</vt:lpstr>
      <vt:lpstr>Microsoft YaHei</vt:lpstr>
      <vt:lpstr>汉仪旗黑</vt:lpstr>
      <vt:lpstr>Arial Unicode MS</vt:lpstr>
      <vt:lpstr>宋体-简</vt:lpstr>
      <vt:lpstr>Calibri Light</vt:lpstr>
      <vt:lpstr>Wingdings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Moorthy</dc:creator>
  <cp:lastModifiedBy>KATHIRAVAN K</cp:lastModifiedBy>
  <cp:revision>46</cp:revision>
  <dcterms:created xsi:type="dcterms:W3CDTF">2026-05-21T03:34:54Z</dcterms:created>
  <dcterms:modified xsi:type="dcterms:W3CDTF">2026-05-21T03:34:54Z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A3BA2B91F5BE54AAC63B046A8F63B0FC_43</vt:lpwstr>
  </property>
  <property fmtid="{D5CDD505-2E9C-101B-9397-08002B2CF9AE}" pid="3" name="KSOProductBuildVer">
    <vt:lpwstr>1033-12.1.23155.23155</vt:lpwstr>
  </property>
</Properties>
</file>